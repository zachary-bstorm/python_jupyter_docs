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25600"/>
            <a:ext cx="9144000" cy="889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5200" b="1" i="0">
                <a:solidFill>
                  <a:srgbClr val="23AC67"/>
                </a:solidFill>
                <a:latin typeface="Zen Maru Gothic"/>
              </a:rP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40000"/>
            <a:ext cx="9144000" cy="50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700" b="1" i="0">
                <a:solidFill>
                  <a:srgbClr val="3B2C87"/>
                </a:solidFill>
                <a:latin typeface="Zen Maru Gothic"/>
              </a:rPr>
              <a:t>Base</a:t>
            </a:r>
          </a:p>
        </p:txBody>
      </p:sp>
      <p:pic>
        <p:nvPicPr>
          <p:cNvPr id="4" name="Picture 3" descr="logo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4089400"/>
            <a:ext cx="203362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ui_sommes_n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Table des matières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168400"/>
            <a:ext cx="4064000" cy="355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variables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nommage et mots réservés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types de base et typage dynamique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affectation et conversion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Interaction avec la console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print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les f-strings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input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opérateurs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arithmétique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comparaison, in, is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0" y="1168400"/>
            <a:ext cx="4064000" cy="355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La structure conditionnelle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if / elif / else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l'indentation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le ternaire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structures itératives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while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for, range, enumerate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break / continue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Table des matières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168400"/>
            <a:ext cx="4064000" cy="355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collections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list et le slicing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tuple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dictionaries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set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les compréhensions 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0" y="1168400"/>
            <a:ext cx="4064000" cy="355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fonctions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définition, paramètres, return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portée et docstring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*args, lambda 🎓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Gestion des erreurs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try / except / else / finally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raise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exceptions personnalisées 🎓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variables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Qu'est-ce que c'est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variable permet de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stocker une information en mémoire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pour la réutiliser — une étiquette collée sur une valeur. Celle-ci se compose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nom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type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valeur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référence mémoire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083560"/>
            <a:ext cx="7620000" cy="9702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age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une étiquette « age » sur la valeur 30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prenom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TVA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0.21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« constante » : convention d'écriture uniquement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18084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concept de variable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constante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n'existe pas en python : la convention est d'écrire le nom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EN_MAJUSCULES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pour signaler « ne pas modifier ».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nom d'une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python, la convention de nommage pour les variables est 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« snake_case »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Peut être composé de lettres, chiffres et underscores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Ne peut pas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commencer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par un chiffre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minuscules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les caractères spéciaux et accents sont interdits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Sensible à la casse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age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Age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sont deux variables différentes 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2882900"/>
          <a:ext cx="83820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/>
                <a:gridCol w="53340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✅ Correct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❌ Incorrect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nombre_de_clients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NombreDeClients   (style C# / Java)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prix_total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prix total   (espace interdit)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message_2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2eme_message   (commence par un chiffre)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mots réservés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Attention, il y a des mots-clefs que vous ne pouvez pas utiliser comme noms !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Python en compte aujourd'hui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35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inutile de les mémoriser : les reconnaître suffit (votre éditeur les colore).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3700" y="2100580"/>
          <a:ext cx="8356600" cy="139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3800"/>
                <a:gridCol w="1193800"/>
                <a:gridCol w="1193800"/>
                <a:gridCol w="1193800"/>
                <a:gridCol w="1193800"/>
                <a:gridCol w="1193800"/>
                <a:gridCol w="1193800"/>
              </a:tblGrid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and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assert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async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await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break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class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continue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def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del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elif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except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finally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for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from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global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if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import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lambda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nonlocal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raise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return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try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while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with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yield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3649979"/>
            <a:ext cx="7620000" cy="55753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keyword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print(len(keyword.kwlist))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35 — la liste officielle, toujours à jour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type d'une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python est un langage à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typage dynamique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type adapté est automatiquement utilisé lors de l'affectation — il est porté par la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valeur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pas par la variable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Il est conseillé de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ne pas changer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le type d'une variable en cours de programme !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fonction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type(...)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permet de récupérer le type de la variable.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755900"/>
            <a:ext cx="7620000" cy="1168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x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print(type(x))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&lt;class 'int'&gt;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x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"cinq"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autorisé... mais à éviter : le code devient confus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print(type(x))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&lt;class 'str'&gt;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Dynamique… mais fortement typé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Python ne mélange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les types tout seul : additionner un texte et un nombre est une erreur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C'est une protection : Python préfère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s'arrêter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plutôt que deviner (contrairement à JavaScript)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❌ Mélanger texte et nombre → erreur claire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print("J'ai " + 30 + " ans")     # TypeError: can only concatenate str...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✅ Solution 1 : convertir explicitement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"J'ai 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+ str(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+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 ans"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✅ Solution 2 (la bonne pratique) : la f-string — voir plus loin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age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30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J'ai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{age}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ans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types de base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1092200"/>
          <a:ext cx="8382000" cy="177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2159000"/>
                <a:gridCol w="1651000"/>
                <a:gridCol w="3429000"/>
              </a:tblGrid>
              <a:tr h="3175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Type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Nom complet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Exemple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Utilité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int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entier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42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compter, indexer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float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nombre à virgule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3.14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mesures, prix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str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chaîne de caractères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"bonjour"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texte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bool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booléen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True / False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vrai ou faux — ⚠ majuscule !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NoneType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valeur vide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None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l'équivalent du « null » de C#, Java…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1000" y="30226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valeur de type texte s'écrit en simples ou doubles quotes ; pour du texte multiligne, il faut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tripler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les quotes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Python 3,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str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gère déjà l'Unicode — le type « unicode » de Python 2 a disparu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Affectation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Contrairement aux langages classiques… il n'est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pas nécessaire de déclarer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les variables. L'affectation se réalise avec l'opérateur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=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entier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42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texte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"Hello World"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Python autorise également l'affectation multiple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nb1, nb2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42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... qui permet d'échanger deux valeurs sans variable temporaire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nb1, nb2 = nb2, nb1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print(nb1, nb2)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42 13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Il existe des fonctions permettant de convertir une valeur vers un type donné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int(...)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conversion vers un entier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float(...)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conversion vers un nombre à virgule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str(...)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transformation vers du texte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504440"/>
            <a:ext cx="7620000" cy="1762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"42"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42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print(float(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"3.14"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3.14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print(str(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"42"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print(int(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3.99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3 → tronqué, PAS arrondi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print(round(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3.99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4 → pour arrondir : round()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int("abc")             # ❌ ValueError : conversion impossible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Interaction avec la console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Écrire dans la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fonction à utiliser pour afficher du texte dans la console est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print(...)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Plusieurs valeurs →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séparateur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ajouté (espace par défaut)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fin de ligne,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saut de ligne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ajouté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paramètres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sep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end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permettent de modifier ce comportement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504440"/>
            <a:ext cx="7620000" cy="1366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"Bonjour"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 B C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sep=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 - 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 - B - C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"Sans saut de ligne"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end=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 → la suite, sur la même ligne"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f-strings — la façon moderne d'afficher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devant les guillemets, et des accolades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{ }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pour insérer n'importe quelle variable ou calcul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À utiliser systématiquement : plus lisible que les concaténations avec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+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10058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prenom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age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30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taille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1.6842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{prenom}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a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{age}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ans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insérer des variables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Dans 10 ans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{age +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ans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insérer un calcul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Taille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{taille: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.2f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m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.2f → 2 chiffres après la virgule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Lire dans la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Pour interagir avec l'utilisateur,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input("message")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affiche la question, attend la saisie, et la renvoie.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⚠ La valeur récupérée sera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toujours de type texte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str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 — une conversion est nécessaire pour la transformer en entier, réel…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1168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reponse = input(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"Quel âge avez-vous ? 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print(type(reponse))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&lt;class 'str'&gt; — TOUJOURS, même si on a tapé 30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age = int(reponse)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conversion nécessaire pour calculer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L'année prochaine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{age +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ans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opérateurs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Arithmétique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opérateurs arithmétiques sont 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521460"/>
          <a:ext cx="8382000" cy="177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/>
                <a:gridCol w="4191000"/>
                <a:gridCol w="1397000"/>
                <a:gridCol w="1397000"/>
              </a:tblGrid>
              <a:tr h="3175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Opérateur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Rôle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Exemple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Résultat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+   -   *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addition, soustraction, multiplication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7 * 3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/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division réelle — donne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toujours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un float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7 / 2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3.5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//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division entière (quotient)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7 // 2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%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modulo — le reste de la division entière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7 % 2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**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puissance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2 ** 10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1024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345186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classique du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%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un nombre est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pair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si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nombre % 2 == 0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Comparaison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comparaison renvoie toujours un booléen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True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ou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False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521460"/>
          <a:ext cx="8382000" cy="142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/>
                <a:gridCol w="69850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Opérateur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Signification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est égal à — ⚠ deux « = », à ne pas confondre avec l'affectation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!=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est différent de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&lt;    &lt;=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strictement inférieur / inférieur ou égal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&gt;    &gt;=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strictement supérieur / supérieur ou égal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3045460"/>
            <a:ext cx="7620000" cy="9372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age 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20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print(age &gt;=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18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True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"albert"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&lt;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"bernard"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True — le texte se compare (ordre alphabétique)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&lt;= age &lt;=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25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True — spécialité Python : le chaînage !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in » et « is » — appartenance et identité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in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test d'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appartenance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« a » est-il contenu dans « b » ?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is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test d'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identité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« a » et « b » sont-ils 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même objet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en mémoire ? (⚠ pas le même contenu : ça, c'est le rôle de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==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10058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email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"alice@entreprise.be"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"@"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email)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jour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"samedi"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print(jour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"samedi"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"dimanche"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in remplace une série de « or »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b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print(a == b)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True  → même CONTENU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print(a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b)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False → deux objets différents en mémoire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38658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Usage quotidien de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le test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 valeur is None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(cf. les fonctions).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Logique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Python utilise des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mots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pas des symboles —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&amp;&amp;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||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n'existent pas 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521460"/>
          <a:ext cx="8382000" cy="119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3302000"/>
                <a:gridCol w="3937000"/>
              </a:tblGrid>
              <a:tr h="3175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Mot-clé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Vrai quand…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Exemple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and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les deux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valeurs sont vraies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age &gt;= 18 and a_un_ticket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au moins une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des deux est vraie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est_admin or est_moderateur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la valeur est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fausse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(l'inverse)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not est_bloque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286766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Évaluation « paresseuse » : Python s'arrête dès que le résultat est connu — dans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 and b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si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faux,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b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n'est même pas évalué.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Affectation et opération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Il existe une écriture raccourcie qui combine une opération arithmétique avec une affectation 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13000" y="1772920"/>
          <a:ext cx="4318000" cy="111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8000"/>
                <a:gridCol w="762000"/>
                <a:gridCol w="1778000"/>
              </a:tblGrid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+=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⇔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= a +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-=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⇔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= a -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*=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⇔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= a *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/=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⇔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= a /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3042920"/>
            <a:ext cx="7620000" cy="9372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compteur 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compteur +=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5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compteur *=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10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print(compteur)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La structure conditionnelle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« if, elif, else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structure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permet d'exécuter des opérations en fonction de conditions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condition à tester (obligatoire)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elif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testée si la précédente est fausse (optionnel et répétable)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else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traitement si aucune condition validée (optionnel)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50444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note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14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note &gt;=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16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"Très bien"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elif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note &gt;=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"Bien"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← 14 &gt;= 12 : c'est ce bloc qui s'exécute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else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"Peut mieux faire"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Python teste DANS L'ORDRE et s'arrête à la PREMIÈRE condition vraie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L'indentation EST la syntaxe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Pas d'accolades en Python : le bloc est défini par 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: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l'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indentation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4 espaces, la convention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Tout ce qui est indenté sous 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appartient au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; on « sort » du bloc en revenant à gauche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indentation incohérente →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IndentationError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67970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age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20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age &gt;=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"Majeur"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dans le if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"Accès autorisé"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dans le if aussi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"Fin du programme"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HORS du if : toujours exécuté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Conditions imbriquées… et comment les aplatir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dans 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fonctionne — mais au-delà de 2 niveaux, le code devient dur à lire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Souvent, 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and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bien placé aplatit tout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849120"/>
            <a:ext cx="7620000" cy="23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age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25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a_un_ticket =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True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❌ Version imbriquée : chaque niveau ajoute de la complexité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age &gt;=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a_un_ticket: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"Accès autorisé"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✅ Version aplatie : même logique, plus lisible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age &gt;=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and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a_un_ticket: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"Accès autorisé"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Bonus : la condition en une ligne (ternaire)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Pour affecter une valeur selon une condition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valeur_si_vrai if condition else valeur_si_faux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À réserver aux cas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simples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dès que c'est long, revenir au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classique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100580"/>
            <a:ext cx="7620000" cy="23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age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20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Version classique en 4 lignes...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age &gt;=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statut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"majeur"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else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statut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"mineur"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... et la même chose en 1 ligne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statut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"majeur"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age &gt;=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else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"mineur"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print(statut)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structures itératives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Deux boucles, deux usages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Répéter une action sans recopier le code : traiter 1000 lignes d'un fichier, réessayer une connexion, afficher chaque produit d'un catalogue…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823720"/>
          <a:ext cx="8382000" cy="116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6000"/>
                <a:gridCol w="3810000"/>
                <a:gridCol w="3556000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Boucle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Idée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Quand l'utiliser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while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«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tant que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la condition est vraie, répète »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on ne sait pas à l'avance combien de fois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for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«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pour chaque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élément de la collection, répète »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on parcourt quelque chose — le cas de loin le plus courant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structure « while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boucle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while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répète un ensemble d'opérations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tant que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la condition vérifiée est vraie — testée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avant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chaque tour.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⚠ Attention, vous devez toujours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maîtriser la condition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quelque chose doit changer dans le bloc, sinon la boucle est infinie !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compteur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while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compteur &gt;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print(compteur)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compteur -=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← SANS cette ligne : boucle infinie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"Décollage 🚀"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043679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cas d'usage typique :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redemander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une saisie tant qu'elle est invalide (on ne sait pas combien d'essais il faudra).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structure « for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boucle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for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parcourt une collection : à chaque tour, la variable prend la valeur suivante.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Fonctionne sur tout ce qui se parcourt : une liste, un texte, un fichier…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réflexe Python : on boucle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directement sur les éléments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pas sur des indices !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42824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 = 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"pain"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"lait"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"œufs"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article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courses: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À acheter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{article}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lettre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"abc"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un texte se parcourt aussi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print(lettre)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fonction « range(start, stop, step)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range(...)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génère une suite de nombres — utilisable de 3 manières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range(stop)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de 0 à stop-1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range(start, stop)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le pas par défaut est 1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range(start, stop, step)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tous les paramètres · la fin est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toujours exclue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!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504440"/>
            <a:ext cx="7620000" cy="1762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i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range(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):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0 1 2 3 4  (la fin est exclue)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print(i, end=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 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i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range(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):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1 2 3 ... 10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print(i, end=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 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i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range(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):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0 2 4 ... 18 (de 2 en 2)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print(i, end=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 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enumerate(...) » — l'élément ET sa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Besoin du numéro de chaque élément ? Pas de compteur à gérer à la main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enumerate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fournit des paires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(position, element)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start=1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fait commencer à 1.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3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podium = 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"Bob"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"Chloé"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❌ Le réflexe venu d'autres langages : un compteur manuel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i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nom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podium: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i +=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{i}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.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{nom}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✅ La façon Python : enumerate s'occupe du compteur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position, nom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enumerate(podium, start=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{position}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.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{nom}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break » et « continue » — piloter la boucle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1092200"/>
          <a:ext cx="8382000" cy="86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/>
                <a:gridCol w="69850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Mot-clé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Effet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break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sort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de la boucle immédiatement et définitivement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continue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saute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au tour suivant (ignore la fin du bloc pour ce tour)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62000" y="205740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produit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"clavier"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"souris"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"écran"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"casque"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produit ==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"écran"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break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trouvé → inutile de continuer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print(produit)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nombre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range(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nombre %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!=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continue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impair → on passe au suivant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{nombre}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est pair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collections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différentes collections du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collections permettent de regrouper dans une seule variable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ensemble d'informations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En python, il en existe 4 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772920"/>
          <a:ext cx="8382000" cy="154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/>
                <a:gridCol w="1333500"/>
                <a:gridCol w="889000"/>
                <a:gridCol w="1041400"/>
                <a:gridCol w="1117600"/>
                <a:gridCol w="2730500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Nom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Syntaxe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Ordonnée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Modifiable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Doublons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Spécialité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List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[1, 2, 3]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Oui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Oui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Oui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LA collection à tout faire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Tuple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(1, 2, 3)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Oui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Non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Oui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données figées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Dictionaries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{"clé": val}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Oui *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Oui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clés uniques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fiches clé → valeur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Set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{1, 2, 3}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Non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Oui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Non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unicité, recherche rapide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346202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*  depuis Python 3.7, le dictionnaire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conserve l'ordre d'insertion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Au quotidien :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la liste et le dictionnaire font 90 % du travail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collection « list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python, une liste s'écrit entre crochets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[ ]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une suite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ordonnée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 valeurs, modifiable à volonté. Chaque élément a 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position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(un index) qui commence à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0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762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 = 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"pain"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"lait"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"œufs"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"beurre"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print(courses[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pain   → premier élément (index 0 !)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print(courses[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lait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print(courses[-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beurre → -1 = le dernier (astuce très utilisée)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print(len(courses))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4      → la taille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"lait"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courses)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True   → test de présence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collection « list » — modifier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092200"/>
            <a:ext cx="7620000" cy="25552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 = 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"pain"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"lait"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"œufs"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courses.append(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"fromage"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ajouter à la fin (LA méthode n°1 de Python)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courses.insert(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"café"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insérer à une position précise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courses.remove(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"lait"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supprimer par valeur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dernier = courses.pop()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retirer ET renvoyer le dernier élément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"café moulu"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modifier un élément existant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print(courses)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notes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17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notes.sort()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trier la liste sur place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print(notes)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[8, 12, 14, 17]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kit complet des méthodes de liste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092200"/>
          <a:ext cx="8382000" cy="2654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8500"/>
                <a:gridCol w="5080000"/>
                <a:gridCol w="1333500"/>
              </a:tblGrid>
              <a:tr h="3175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Méthode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Ce qu'elle fait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Renvoie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append(x)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ajoute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un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élément à la fin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rien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extend(coll)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ajoute les éléments de la collection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un par un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rien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insert(pos, x)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insère à cette position et décale le reste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rien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remove(x)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supprime la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première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occurrence (erreur si absente)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rien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pop(pos)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supprime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et renvoie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(le dernier si pos omise)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l'élément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index(x)  /  count(x)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position de la 1ʳᵉ occurrence / nombre d'occurrences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un entier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sort(key=, reverse=)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trie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la liste elle-même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— </a:t>
                      </a:r>
                      <a:r>
                        <a:rPr sz="1050" b="0" i="0">
                          <a:solidFill>
                            <a:srgbClr val="0D0D0D"/>
                          </a:solidFill>
                          <a:latin typeface="Consolas"/>
                        </a:rPr>
                        <a:t>sorted(l)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renvoie une copie triée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rien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clear()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vide entièrement la liste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rien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deux pièges : append/extend et sort/sorted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092200"/>
            <a:ext cx="7620000" cy="25552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nombres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nombres.append([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append ajoute LA LISTE ENTIÈRE comme 1 élément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print(nombres)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[1, 2, 3, [4, 5]]   ← le piège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nombres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nombres.extend([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extend ajoute les éléments UN PAR UN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print(nombres)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[1, 2, 3, 4, 5]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mots = 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"kiwi"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"banane"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"pomme"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print(sorted(mots))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NOUVELLE liste triée — l'originale intacte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mots.sort()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trie la liste ELLE-MÊME... et renvoie None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print(mots)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découpage (slicing)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langage python permet de récupérer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ensemble d'éléments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liste[début:fin]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la fin est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exclue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comme pour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range()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nombres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[20, 30]      → de l'index 1 à 2 (3 exclu)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print(nombres[: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[10, 20]      → du début à l'index 1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:])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[30, 40, 50]  → de l'index 2 à la fin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print(nombres[-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:])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[40, 50]      → les 2 derniers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email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"alice@entreprise.be"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print(email[: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alice — le slicing marche aussi sur le texte !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Slicing avancé — le pas, et les copies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slicing complet a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trois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nombres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liste[début : fin : pas]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[::-1]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inverse la liste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1" i="0">
                <a:solidFill>
                  <a:srgbClr val="0D0D0D"/>
                </a:solidFill>
                <a:latin typeface="Barlow"/>
              </a:rPr>
              <a:t>Copier ≠ renommer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alias = original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ne copie rien ! Pour une vraie copie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.copy()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ou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[:]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352040"/>
            <a:ext cx="7620000" cy="23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nombres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6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7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9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[3, 5, 7]         → de 3 à 7, de 2 en 2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print(nombres[::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[0, 2, 4, 6, 8, 10] → un élément sur deux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print(nombres[::-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[10, 9, ... 0]    → la liste À L'ENVERS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original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alias = original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PAS une copie : 2 noms pour LA MÊME liste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alias[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77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print(original)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[77, 2, 3] → « l'originale » a changé aussi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copie = original.copy()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vraie copie (ou original[:])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piège de la copie superficielle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.copy()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ne copie que 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premier niveau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les sous-listes restent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partagées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Analogie : photocopier le classeur… mais pas les feuilles à l'intérieur. La solution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copy.deepcopy()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024380"/>
            <a:ext cx="7620000" cy="25552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grille = [[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],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6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]]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une liste DE listes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grille_copie = grille.copy()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grille_copie[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99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on modifie... la copie ?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print(grille)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[[99, 2, 3], [4, 5, 6]] → l'originale AUSSI ?!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✅ La copie PROFONDE recopie tous les niveaux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copy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grille = [[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],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6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grille_copie = copy.deepcopy(grille)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grille_copie[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99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print(grille)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[[1, 2, 3], [4, 5, 6]] → intacte ✔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collection « tuple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python, un tuple s'écrit entre parenthèses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( 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comme une liste, mais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non modifiable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après création (immuable).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Utilité : signaler « ces valeurs vont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ensemble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ne changeront pas » — un point GPS, une paire jour/mois…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1762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position = 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50.85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4.35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latitude, longitude de Bruxelles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print(position[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accès par index, comme une liste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position[0] = 51.0           # ❌ TypeError : non modifiable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Le « déballage » (unpacking) : chaque valeur dans sa variable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latitude, longitude = position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lat=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{latitude}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, lon=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{longitude}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Tuples — unpacking avancé et « zip 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092200"/>
          <a:ext cx="8382000" cy="142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000"/>
                <a:gridCol w="59690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Écriture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Effet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(42,)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tuple d'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un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élément — la virgule est obligatoire !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premier, *reste = 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D0D0D"/>
                          </a:solidFill>
                          <a:latin typeface="Consolas"/>
                        </a:rPr>
                        <a:t>*reste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ramasse tout le reste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(dans une liste)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a, b = b, a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échange de deux variables sans variable temporaire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zip(c1, c2)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appaire deux collections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par position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, pour les parcourir côte à côte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2616200"/>
            <a:ext cx="7620000" cy="169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resultats = (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18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15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12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9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7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premier, *reste = resultats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print(premier, reste)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18  [15, 12, 9, 7]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noms = 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"Alice"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"Bob"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"Chloé"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ages = (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25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30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35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nom, age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zip(noms, ages):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{nom}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 a 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{age}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 ans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collection « Dictionaries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dictionnaire s'écrit entre accolades avec des combinaisons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« clef / valeur »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on retrouve une valeur par son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étiquette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pas par sa position. C'est la « fiche » : un client, un produit…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02438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client =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"Dupont"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"prenom"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"age"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print(client[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lire une valeur par sa clé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client[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"email"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"a@bstorm.be"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nouvelle clé      → ajout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client[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"age"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clé existante     → modification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print(client["tel"])           # ❌ clé absente → KeyError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print(client.get(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"tel"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None — sans planter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print(client.get(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"tel"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"non renseigné"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ou une valeur par défaut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Parcourir un dictionnaire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09220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client =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"Dupont"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"prenom"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"age"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Parcourir les clés (comportement par défaut du for)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cle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client: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print(cle)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Parcourir clés ET valeurs ensemble : .items()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cle, valeur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client.items():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{cle}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{valeur}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318008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L'ordre d'insertion est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conservé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(Python ≥ 3.7) — mais on reste sur l'idée : un dict se consulte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par clé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pas par position.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Dictionnaires — fusion et imbrication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d1.update(d2)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verse d2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dans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d1 (clés communes écrasées) ;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d1 | d2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crée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nouveau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dict fusionné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dict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imbriqué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un crochet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par niveau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pendant 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for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modifier les valeurs ✅, ajouter/supprimer des clés ❌ (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RuntimeError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35204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profil =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"age"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profil.update({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"age"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"ville"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"Bruxelles"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print(profil)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age écrasé, ville ajoutée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catalogue = {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"vjx45"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"chaussures"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"commande"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False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},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"ab812"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"veste"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"commande"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False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},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print(catalogue[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"vjx45"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un crochet PAR NIVEAU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catalogue[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"vjx45"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"commande"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=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True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modification imbriquée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combo gagnant : une liste de dictionnaires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D0D0D"/>
                </a:solidFill>
                <a:latin typeface="Barlow"/>
              </a:rPr>
              <a:t>LA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structure de données du monde professionnel : chaque dict est 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fiche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la liste est 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fichier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c'est exactement la forme du JSON.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5552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produits = [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"Clavier"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"prix"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49.99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"stock"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},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"Souris"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"prix"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19.99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"stock"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},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"Écran"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"prix"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219.00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"stock"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},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Tout ce qu'on a appris se combine : boucle + dict + condition + f-string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produit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produits: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produit[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"stock"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&gt;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{produit[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'nom'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{produit[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'prix'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€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else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{produit[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'nom'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: RUPTURE DE STOCK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collection « set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python, un set s'écrit entre accolades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{ }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pas d'ordre,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pas de doublons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Ses deux super-pouvoirs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1" i="0">
                <a:solidFill>
                  <a:srgbClr val="0D0D0D"/>
                </a:solidFill>
                <a:latin typeface="Barlow"/>
              </a:rPr>
              <a:t>Dédoublonner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une liste en une ligne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Tester une appartenance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très rapidement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même sur des millions d'éléments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428240"/>
            <a:ext cx="7620000" cy="1366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votes = 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"oui"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"oui"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"oui"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print(set(votes))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{'oui', 'non'} — doublons éliminés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print(len(set(votes)))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2 réponses différentes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ids_autorises = {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101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205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318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442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205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ids_autorises)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True — quasi instantané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Sets — les opérations d'ensembles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092200"/>
          <a:ext cx="6604000" cy="135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2286000"/>
                <a:gridCol w="3175000"/>
              </a:tblGrid>
              <a:tr h="2921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Opérateur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Nom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Se lit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|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union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« dans A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ou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B »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&amp;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intersection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« dans A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et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B »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-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différence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« dans A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mais pas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B »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A ^ B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différence symétrique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« dans un seul des deux »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2552700"/>
            <a:ext cx="7620000" cy="131699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invites = {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"Alice"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"Bob"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"Chloé"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"David"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}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presents = {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"Bob"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"Chloé"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"Emma"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}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print(invites &amp; presents)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{'Bob', 'Chloé'}     → les venus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print(invites - presents)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{'Alice', 'David'}   → les absents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print(presents - invites)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{'Emma'}             → venue sans invitation !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compréhensions de liste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Construire une liste en une ligne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[expression for element in collection if condition]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l'idiome Python qui remplace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map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filter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77292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nombres = [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6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doubles = [n *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nombres]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TRANSFORMER chacun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print(doubles)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[2, 4, 6, 8, 10, 12]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pairs = [n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nombres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 %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==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FILTRER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print(pairs)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[2, 4, 6]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carres = [n **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nombres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n %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==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les deux à la fois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print(carres)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[4, 16, 36]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fonctions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Définition d'une fonction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fonction est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bloc de code réutilisable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avec un nom — pour éviter la répétition de code. Déclarée avec le mot clef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def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nommée en « snake_case ». Il en existe 2 types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1" i="0">
                <a:solidFill>
                  <a:srgbClr val="0D0D0D"/>
                </a:solidFill>
                <a:latin typeface="Barlow"/>
              </a:rPr>
              <a:t>Procédure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→ ne retourne aucune valeur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1" i="0">
                <a:solidFill>
                  <a:srgbClr val="0D0D0D"/>
                </a:solidFill>
                <a:latin typeface="Barlow"/>
              </a:rPr>
              <a:t>Fonction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→ retourne une valeur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⚠ Définir une fonction ne l'exécute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il faut l'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appeler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avec ses parenthèses.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755900"/>
            <a:ext cx="7620000" cy="1168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afficher_bienvenue():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définition : Python mémorise la recette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"Bienvenue !"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afficher_bienvenue()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appel : c'est ICI que le code s'exécute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afficher_bienvenue()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... réutilisable à volonté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Fonction vs méthode — le bon vocabulaire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fonction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s'appelle seule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len(courses)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print(...)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type(x)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méthode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une fonction attachée à un objet — appelée avec un point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objet.methode(...)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deux termes reviennent sans cesse : autant les employer correctement dès maintenant.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42824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 = [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"pain"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"lait"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]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print(len(courses))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fonction :  len(...)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courses.append(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"œufs"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méthode  :  la liste AGIT sur elle-même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texte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"bonjour"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print(texte.upper())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méthode des str → BONJOUR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paramètres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paramètres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sont les variables déclarées entre les parenthèses du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def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les valeurs reçues sont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copiées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dans des variables locales à la fonction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arguments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sont les valeurs réelles envoyées à l'appel — dans l'ordre (positionnels), ou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nommés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(ordre libre, plus lisible)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1762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saluer(prenom, langue):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langue ==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"fr"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Bonjour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{prenom}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!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else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Hello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{prenom}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!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saluer(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"fr"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arguments positionnels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saluer(langue=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"en"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prenom=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"Bob"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arguments nommés : ordre libre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return » — renvoyer un résultat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print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affiche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(pour les humains) ;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return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renvoie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une valeur au programme — stockable, comparable, réutilisable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return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termine immédiatement la fonction · sans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return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la fonction renvoie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None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10058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prix_ttc(prix_ht, taux_tva):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prix_ht * 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+ taux_tva)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prix = prix_ttc(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100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0.21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le résultat se stocke...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Pour 3 articles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{prix *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€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... et se réutilise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diviser(a, b):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b ==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None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return = sortie immédiate (cas particulier)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 / b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valeurs par défaut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paramètre peut avoir 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valeur par défaut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l'argument devient facultatif à l'appel.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521460"/>
            <a:ext cx="7620000" cy="11684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creer_utilisateur(nom, role=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"lecteur"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actif=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True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nom,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"role"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role,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"actif"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actif}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print(creer_utilisateur(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"Alice"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défauts utilisés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print(creer_utilisateur(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"Bob"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role=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"admin"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défaut remplacé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81686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⚠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Jamais de liste en valeur par défaut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elle est créée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une seule fois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partagée entre tous les appels — le remède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None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par défaut, et créer la liste dans la fonction (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 liste is None: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Variable locale VS globale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variables créées au sein d'une fonction n'existent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que dans celle-ci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mot clef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global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permet d'utiliser une variable du dehors — ⚠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ceci n'est pas conseillé !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bon modèle mental : les données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entrent par les paramètres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sortent par le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428240"/>
            <a:ext cx="7620000" cy="1366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calculer():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resultat_local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variable LOCALE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resultat_local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print(calculer())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42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print(resultat_local)        # ❌ NameError : n'existe pas ici !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Documenter une fonction : la docstring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texte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""" ... """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juste sous 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def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décrit ce que fait la fonction — affiché par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help(...)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au survol dans VS Code. Vos collègues (et vous dans 6 mois) vous remercieront !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7627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prix_ttc(prix_ht, taux_tva=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0.21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"""Calcule le prix TTC à partir du prix hors taxe.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838A"/>
                </a:solidFill>
                <a:latin typeface="Consolas"/>
              </a:rPr>
              <a:t>    taux_tva : taux de TVA (0.21 = 21 %, le taux belge par défaut)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838A"/>
                </a:solidFill>
                <a:latin typeface="Consolas"/>
              </a:rPr>
              <a:t>    """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prix_ht * 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+ taux_tva)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help(prix_ttc)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affiche la docstring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kit complet des fonctions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return a, b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renvoie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tuple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→ à déballer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mini, maxi = ...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*args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positionnels en vrac (tuple) ·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**kwargs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nommés en vrac (dict) ·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f(*liste)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déballe à l'appel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lambda p: expression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mini-fonction jetable, surtout pour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key=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sorted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/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max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/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428240"/>
            <a:ext cx="7620000" cy="226631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statistiques(notes):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min(notes), max(notes)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un tuple !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mini, maxi = statistiques([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12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15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9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17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])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addition(*nombres):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print() fonctionne ainsi !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sum(nombres)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print(addition(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))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10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produits = [{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"Écran"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"prix"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219.0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},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    {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"nom"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"Souris"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"prix"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19.99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}]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tri = sorted(produits, key=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lambda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p: p[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"prix"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])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trier PAR le prix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Gestion des erreurs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Qu'est-ce qu'une exception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Dans la vraie vie, tout peut mal se passer : saisie invalide, fichier absent, réseau coupé…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exception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le signal d'erreur levé par Python — non interceptée, le programme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plante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message se lit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de bas en haut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le type d'exception + la ligne fautive — savoir le lire, c'est 50 % du débogage !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93116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"abc"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Traceback (most recent call last):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  File "app.py", line 1, in &lt;module&gt;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ValueError: invalid literal for int() with base 10: 'abc'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^^^^^^^^^^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le TYPE d'erreur — et juste au-dessus, la ligne exacte du plantage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exceptions les plus courantes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1092200"/>
          <a:ext cx="8382000" cy="215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2500"/>
                <a:gridCol w="3683000"/>
                <a:gridCol w="2476500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Exception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Se produit quand…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Exemple déclencheur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ValueError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la valeur n'a pas le bon format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int("abc")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TypeError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les types sont incompatibles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"texte" + 5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ZeroDivisionError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division par zéro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10 / 0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KeyError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clé absente d'un dictionnaire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client["tel"]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IndexError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position hors de la liste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liste[99]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FileNotFoundError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fichier introuvable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open("absent.txt")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Try… Except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gestion des erreurs permet d'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intercepter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les exceptions pour les traiter — le programme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continue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au lieu de planter.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python, quatre types de blocs sont prévus pour cela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try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except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else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finally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10058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saisie 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"abc"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imaginez que ça vient d'un input()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try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nombre = int(saisie)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Le double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{nombre *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except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ValueError: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'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{saisie}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' n'est pas un nombre valide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"→ Le programme continue de tourner !"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Multiples « Except » — attraper précisément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Toujours indiquer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quelle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exception on attend — 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except: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tout nu attrape tout, y compris les bugs qu'on voulait voir ❌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as 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récupère l'objet exception (son message) · l'exception passe d'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except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except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à la recherche du premier bloc compatible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convertir_et_diviser(texte, diviseur):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try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int(texte) / diviseur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except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ValueError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as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e: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« as e » : les détails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Saisie invalide →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except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ZeroDivisionError: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"Division par zéro impossible"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convertir_et_diviser(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"abc"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intercepté par ValueError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convertir_et_diviser(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"20"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intercepté par ZeroDivisionError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quatuor : try / except / else / finally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1092200"/>
          <a:ext cx="8382000" cy="135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/>
                <a:gridCol w="7112000"/>
              </a:tblGrid>
              <a:tr h="2921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Bloc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S'exécute…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try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toujours — c'est le code surveillé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except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seulement si une exception a eu lieu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seulement si tout s'est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bien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 passé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finally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toujours</a:t>
                      </a:r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, quoi qu'il arrive — nettoyage, fermeture…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62000" y="2552700"/>
            <a:ext cx="7620000" cy="169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try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nombre = int(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"42"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except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ValueError: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"❌ échec de la conversion"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else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✅ conversion réussie : 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{nombre}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finally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"🧹 nettoyage — s'exécute TOUJOURS"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raise » — lever soi-même une exception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Nos propres fonctions peuvent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refuser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des données invalides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raise ValueError("message clair")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C'est mieux que renvoyer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None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en silence : l'erreur est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impossible à ignorer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et le message explique le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creer_tache(titre):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not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titre.strip():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titre vide (ou que des espaces) ?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raise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ValueError(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"Le titre ne peut pas être vide"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{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"titre"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titre.strip(),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"faite"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False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try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creer_tache(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   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except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ValueError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as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Refusé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pattern à connaître : la saisie robuste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Combiner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while True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+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try/except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redemander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jusqu'à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obtenir une saisie valide — impossible à faire planter.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demander_entier(question):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"""Repose la question jusqu'à obtenir un entier valide."""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while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True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try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int(input(question))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ça marche → return sort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except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ValueError: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"⚠ Veuillez entrer un nombre entier"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age = demander_entier(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"Votre âge : 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Âge enregistré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{age}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Pour aller plus loin avec les exceptions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092200"/>
          <a:ext cx="83820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/>
                <a:gridCol w="3175000"/>
                <a:gridCol w="33020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Technique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Syntaxe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Quand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Barlow"/>
                        </a:rPr>
                        <a:t>plusieurs types d'un coup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D0D0D"/>
                          </a:solidFill>
                          <a:latin typeface="Consolas"/>
                        </a:rPr>
                        <a:t>except (ValueError, TypeError):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Barlow"/>
                        </a:rPr>
                        <a:t>même traitement pour plusieurs erreurs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Barlow"/>
                        </a:rPr>
                        <a:t>re-lever l'exception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D0D0D"/>
                          </a:solidFill>
                          <a:latin typeface="Consolas"/>
                        </a:rPr>
                        <a:t>raise   (tout nu, dans un except)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Barlow"/>
                        </a:rPr>
                        <a:t>observer sans avaler l'erreur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Barlow"/>
                        </a:rPr>
                        <a:t>sa propre exception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D0D0D"/>
                          </a:solidFill>
                          <a:latin typeface="Consolas"/>
                        </a:rPr>
                        <a:t>class MonErreur(Exception):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Barlow"/>
                        </a:rPr>
                        <a:t>un </a:t>
                      </a:r>
                      <a:r>
                        <a:rPr sz="1150" b="1" i="0">
                          <a:solidFill>
                            <a:srgbClr val="0D0D0D"/>
                          </a:solidFill>
                          <a:latin typeface="Barlow"/>
                        </a:rPr>
                        <a:t>nom métier</a:t>
                      </a:r>
                      <a:r>
                        <a:rPr sz="1150" b="0" i="0">
                          <a:solidFill>
                            <a:srgbClr val="0D0D0D"/>
                          </a:solidFill>
                          <a:latin typeface="Barlow"/>
                        </a:rPr>
                        <a:t> pour vos erreurs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2000" y="2413000"/>
            <a:ext cx="7620000" cy="225806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 SoldeInsuffisantError(Exception):</a:t>
            </a:r>
          </a:p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00838A"/>
                </a:solidFill>
                <a:latin typeface="Consolas"/>
              </a:rPr>
              <a:t>"""Levée quand un retrait dépasse le solde disponible."""</a:t>
            </a:r>
          </a:p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 retirer(solde, montant):</a:t>
            </a:r>
          </a:p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 montant &gt; solde:</a:t>
            </a:r>
          </a:p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050" b="1" i="0">
                <a:solidFill>
                  <a:srgbClr val="0000BF"/>
                </a:solidFill>
                <a:latin typeface="Consolas"/>
              </a:rPr>
              <a:t>raise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 SoldeInsuffisantError(</a:t>
            </a:r>
            <a:r>
              <a:rPr sz="105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050" b="1" i="0">
                <a:solidFill>
                  <a:srgbClr val="00838A"/>
                </a:solidFill>
                <a:latin typeface="Consolas"/>
              </a:rPr>
              <a:t>Refusé : solde 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{solde}</a:t>
            </a:r>
            <a:r>
              <a:rPr sz="1050" b="1" i="0">
                <a:solidFill>
                  <a:srgbClr val="00838A"/>
                </a:solidFill>
                <a:latin typeface="Consolas"/>
              </a:rPr>
              <a:t> €</a:t>
            </a:r>
            <a:r>
              <a:rPr sz="105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0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 solde - montant</a:t>
            </a:r>
          </a:p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0000BF"/>
                </a:solidFill>
                <a:latin typeface="Consolas"/>
              </a:rPr>
              <a:t>try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D0D0D"/>
                </a:solidFill>
                <a:latin typeface="Consolas"/>
              </a:rPr>
              <a:t>    retirer(</a:t>
            </a:r>
            <a:r>
              <a:rPr sz="1050" b="0" i="0">
                <a:solidFill>
                  <a:srgbClr val="1616C8"/>
                </a:solidFill>
                <a:latin typeface="Consolas"/>
              </a:rPr>
              <a:t>50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050" b="0" i="0">
                <a:solidFill>
                  <a:srgbClr val="1616C8"/>
                </a:solidFill>
                <a:latin typeface="Consolas"/>
              </a:rPr>
              <a:t>200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365"/>
              </a:lnSpc>
            </a:pPr>
            <a:r>
              <a:rPr sz="1050" b="1" i="0">
                <a:solidFill>
                  <a:srgbClr val="0000BF"/>
                </a:solidFill>
                <a:latin typeface="Consolas"/>
              </a:rPr>
              <a:t>except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 SoldeInsuffisantError </a:t>
            </a:r>
            <a:r>
              <a:rPr sz="1050" b="1" i="0">
                <a:solidFill>
                  <a:srgbClr val="0000BF"/>
                </a:solidFill>
                <a:latin typeface="Consolas"/>
              </a:rPr>
              <a:t>as</a:t>
            </a:r>
            <a:r>
              <a:rPr sz="1050" b="0" i="0">
                <a:solidFill>
                  <a:srgbClr val="0D0D0D"/>
                </a:solidFill>
                <a:latin typeface="Consolas"/>
              </a:rPr>
              <a:t> e:     </a:t>
            </a:r>
            <a:r>
              <a:rPr sz="1050" b="0" i="1">
                <a:solidFill>
                  <a:srgbClr val="8C8C8C"/>
                </a:solidFill>
                <a:latin typeface="Consolas"/>
              </a:rPr>
              <a:t># un except sur MESURE</a:t>
            </a:r>
          </a:p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0D0D0D"/>
                </a:solidFill>
                <a:latin typeface="Consolas"/>
              </a:rPr>
              <a:t>    print(e)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Pour aller plus loin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50" b="0" i="0">
                <a:solidFill>
                  <a:srgbClr val="0D0D0D"/>
                </a:solidFill>
                <a:latin typeface="Barlow"/>
              </a:rPr>
              <a:t>Ce module couvre le </a:t>
            </a:r>
            <a:r>
              <a:rPr sz="1550" b="1" i="0">
                <a:solidFill>
                  <a:srgbClr val="0D0D0D"/>
                </a:solidFill>
                <a:latin typeface="Barlow"/>
              </a:rPr>
              <a:t>socle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du langage. La suite logique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La programmation orientée objet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classes, héritage, encapsulation (support « Python - Orienté objet »)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Fichiers et modules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lire/écrire des fichiers, le JSON, organiser son code en plusieurs fichiers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Le web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un premier site avec Flask : formulaires GET/POST, templates, base de données SQLite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Sous le capot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références mémoire, hachage, ce que Python fait vraiment de vos variables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La performance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mesurer avec </a:t>
            </a:r>
            <a:r>
              <a:rPr sz="1400" b="0" i="0">
                <a:solidFill>
                  <a:srgbClr val="0D0D0D"/>
                </a:solidFill>
                <a:latin typeface="Consolas"/>
              </a:rPr>
              <a:t>timeit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, choisir la bonne collection, écrire du Python rapide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Merci pour votre attention.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