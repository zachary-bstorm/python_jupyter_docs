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25600"/>
            <a:ext cx="9144000" cy="889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5200" b="1" i="0">
                <a:solidFill>
                  <a:srgbClr val="23AC67"/>
                </a:solidFill>
                <a:latin typeface="Zen Maru Gothic"/>
              </a:rPr>
              <a:t>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40000"/>
            <a:ext cx="9144000" cy="508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700" b="1" i="0">
                <a:solidFill>
                  <a:srgbClr val="3B2C87"/>
                </a:solidFill>
                <a:latin typeface="Zen Maru Gothic"/>
              </a:rPr>
              <a:t>Orienté objet</a:t>
            </a:r>
          </a:p>
        </p:txBody>
      </p:sp>
      <p:pic>
        <p:nvPicPr>
          <p:cNvPr id="4" name="Picture 3" descr="logo_tr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4089400"/>
            <a:ext cx="2033626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ui_sommes_no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Table des matières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3400" y="1168400"/>
            <a:ext cx="4064000" cy="355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Introduction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paradigme orienté objet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coder dans plusieurs fichiers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classes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self, __init__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attribut d'instance vs de classe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pas de surcharge de méthodes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Encapsulation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visibilité _ et __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propriétés et validation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Data model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__str__ et __repr__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__eq__, opérateurs, conteneurs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62500" y="1168400"/>
            <a:ext cx="4064000" cy="3556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Héritage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super(), redéfinition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héritage multiple et MRO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composition vs héritage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exceptions personnalisées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classes abstraites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membres statiques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@staticmethod, @classmethod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énumérations</a:t>
            </a:r>
          </a:p>
          <a:p>
            <a:pPr marL="228600" indent="-228600">
              <a:lnSpc>
                <a:spcPct val="100000"/>
              </a:lnSpc>
              <a:spcBef>
                <a:spcPts val="900"/>
              </a:spcBef>
              <a:spcAft>
                <a:spcPts val="300"/>
              </a:spcAft>
              <a:buSzPct val="85000"/>
              <a:buFont typeface="Arial"/>
              <a:buChar char="➔"/>
            </a:pPr>
            <a:r>
              <a:rPr sz="1450" b="0" i="0">
                <a:solidFill>
                  <a:srgbClr val="0D0D0D"/>
                </a:solidFill>
                <a:latin typeface="Barlow"/>
              </a:rPr>
              <a:t>Les interfaces</a:t>
            </a:r>
          </a:p>
          <a:p>
            <a:pPr marL="584200" indent="-203200">
              <a:lnSpc>
                <a:spcPct val="100000"/>
              </a:lnSpc>
              <a:spcAft>
                <a:spcPts val="250"/>
              </a:spcAft>
              <a:buSzPct val="70000"/>
              <a:buFont typeface="Arial"/>
              <a:buChar char="◆"/>
            </a:pPr>
            <a:r>
              <a:rPr sz="1300" b="0" i="0">
                <a:solidFill>
                  <a:srgbClr val="0D0D0D"/>
                </a:solidFill>
                <a:latin typeface="Barlow"/>
              </a:rPr>
              <a:t>duck typing, ABC, Protocol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Introduction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Paradigme orienté objet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paradigme orienté objet a pour objectif de définir des briques logicielles appelées des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objets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représentant des entités physiques, des concepts ou des idées.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Chaque objet possède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structure interne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son état : des données, les *attributs*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comportement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ce qu'il sait faire : des *méthodes*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L'intérêt : regrouper au même endroit les données et le code qui les manipule — le programme se structure autour du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métier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(une voiture, un client, une tâche) plutôt qu'autour de fonctions éparpillées.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concept d'objet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objet est une entité modélisant une idée, un concept ou une entité physique du monde réel. Il est caractérisé par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état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la couleur, l'année et le kilométrage d'une voiture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comportement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rouler, klaxonner, freiner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428240"/>
          <a:ext cx="8382000" cy="1193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59000"/>
                <a:gridCol w="3048000"/>
                <a:gridCol w="3175000"/>
              </a:tblGrid>
              <a:tr h="3175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Monde réel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État (attributs)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Comportement (méthodes)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une voiture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marque, annee, couleur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rouler(), klaxonner()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un compte en banque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titulaire, solde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deposer(), retirer()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210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une tâche (projet Todo)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titre, faite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terminer(), afficher()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Coder dans plusieurs fichiers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 développer de manière structurée, nous allons coder dans plusieurs fichiers — un import les relie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from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 fichier qui contient le code à importer (répertoire en package + nom du fichier)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import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l'élément à rendre disponible : une fonction, une variable ou une classe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67970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fichier : models/voiture.py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fichier : principal.py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from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models.voiture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package.fichier  import  classe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 = 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"Renault"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Limiter l'exécution du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À l'import d'un fichier,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tout son code de niveau principal s'exécute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Pour réserver une partie (tests, démonstration) au lancement direct du fichier, on utilise la variable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__name__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lancé directement →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__name__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vaut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"__main__"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importé →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__name__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vaut le nom du module : le bloc est ignoré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67970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fichier : outils.py</a:t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aide():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"Je suis l'outil"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__name__ ==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"__main__"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: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vrai SEULEMENT si on lance CE fichier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"Zone de test du module..."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aide()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classes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Définition d'une classe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classe définit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type d'objet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ses états (attributs) et ses comportements (méthodes).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classe est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plan de construction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(un moule) — elle ne contient pas de données concrètes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objet créé à partir d'une classe est 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instance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cette classe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On peut créer autant d'objets que l'on désire avec une même classe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3007360"/>
            <a:ext cx="7620000" cy="1366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le mot clef « class » + PascalCase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pass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v1 = Voiture()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une instance...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v2 = Voiture()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... une autre, indépendante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print(type(v1))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&lt;class '__main__.Voiture'&gt;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self » — qui parle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premier paramètre de toute méthode reçoit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l'instance sur laquelle on appelle la méthode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Par convention, il s'appelle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notation pointée n'est qu'un raccourci : Python passe l'objet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avant le point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comme premier argument.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klaxonner(self):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"Tut tut !"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 = Voiture()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v.klaxonner()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ce que Python exécute réellement 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Voiture.klaxonner(v)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... la même chose — self reçoit v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043679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L'oubli de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dans la signature est l'erreur n°1 du chapitre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TypeError: klaxonner() takes 0 positional arguments but 1 was given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__init__ » — initialiser l'objet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méthode spéciale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__init__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appelée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automatiquement à la création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chaque objet. C'est elle qui crée les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attributs d'instance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les données propres à chaque objet.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Ses paramètres reçoivent les valeurs passées à l'instanciation.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16967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marque, annee):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self.marque = marque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attribut d'INSTANCE : propre à chaque objet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self.annee = annee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v1 =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"Renault"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2019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__init__ est appelée ici, self = v1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v2 =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2024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print(v1.marque, v2.marque)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Renault Kia — chacun les siens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Attribut d'instance VS attribut de classe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1" i="0">
                <a:solidFill>
                  <a:srgbClr val="0D0D0D"/>
                </a:solidFill>
                <a:latin typeface="Barlow"/>
              </a:rPr>
              <a:t>Attribut d'instance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créé dans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__init__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via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self.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chaque objet 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sa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valeur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1" i="0">
                <a:solidFill>
                  <a:srgbClr val="0D0D0D"/>
                </a:solidFill>
                <a:latin typeface="Barlow"/>
              </a:rPr>
              <a:t>Attribut de classe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déclaré directement dans la classe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une seule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valeur, partagée par toutes les instances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10058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nb_roues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attribut de CLASSE : partagé par toutes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self.marque = marque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attribut d'INSTANCE : propre à chacune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v1 = 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"Renault"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v2 = 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print(v1.nb_roues, v2.nb_roues)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 4 — la même valeur, stockée UNE fois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print(v1.marque, v2.marque)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Renault Kia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piège du masquage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Affecter via l'instance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ne modifie pas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l'attribut de classe : cela crée un attribut d'instance qui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masque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pour cet objet-là seulement.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Compteur: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total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attribut de classe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 = Compteur()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c.total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crée un attribut d'INSTANCE qui MASQUE total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print(Compteur.total)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0  — l'attribut de classe n'a pas bougé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print(c.total)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10 — cette instance voit le sien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Compteur.total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99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modifier la valeur partagée : via la CLASSE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8608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Règle de lecture : Python cherche d'abord dans l'instance, puis dans la classe. Règle d'écriture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instance.x = ...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écrit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toujours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dans l'instance.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méthodes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méthodes sont les procédures et fonctions définies au sein de la classe : elles portent les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comportements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Le premier paramètre, obligatoire, est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il donne accès aux attributs de l'objet.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Convention de nommage : le « snake_case », comme les fonctions.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marque, km):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self.km = km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rouler(self, distance):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self.km += distance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la méthode lit ET modifie SON objet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print(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{self.marque}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: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{self.km}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 km au compteur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 = 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"Renault"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68000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v.rouler(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150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Renault : 68150 km au compteur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Pas de surcharge de méthodes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Contrairement à C# et Java, Python n'a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pas de surcharge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redéfinir une méthode avec d'autres paramètres...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écrase la précédente en silence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Le remplacement : les valeurs par défaut (et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*args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024380"/>
            <a:ext cx="7620000" cy="27203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rouler(self):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"je roule"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rouler(self, km):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écrase la 1re en silence !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je roule 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{km}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 km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Voiture().rouler()        # TypeError — il ne reste QUE la version à km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print(Voiture().rouler(</a:t>
            </a:r>
            <a:r>
              <a:rPr sz="1100" b="0" i="0">
                <a:solidFill>
                  <a:srgbClr val="1616C8"/>
                </a:solidFill>
                <a:latin typeface="Consolas"/>
              </a:rPr>
              <a:t>10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))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je roule 10 km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Voiture2: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rouler(self, km=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None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):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LA solution : paramètre optionnel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"je roule"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km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is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None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else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je roule 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{km}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 km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print(Voiture2().rouler(), 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"|"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, Voiture2().rouler(</a:t>
            </a:r>
            <a:r>
              <a:rPr sz="1100" b="0" i="0">
                <a:solidFill>
                  <a:srgbClr val="1616C8"/>
                </a:solidFill>
                <a:latin typeface="Consolas"/>
              </a:rPr>
              <a:t>5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))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je roule | je roule 5 km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Encapsulation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but de l'encapsulation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L'encapsulation est un concept primordial de l'orienté objet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cacher les données internes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d'un objet, et n'y donner accès qu'à travers des méthodes contrôlées.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elle permet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couplage faible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entre les classes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elle garantit l'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intégrité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des données internes (impossible d'y mettre n'importe quoi)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Image : le tableau de bord expose un compteur et des pédales — personne ne touche directement aux pistons.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visibilité : _ et 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Python n'a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pas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modificateurs de visibilité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private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protected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...). Il utilise des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conventions d'écriture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772920"/>
          <a:ext cx="8382000" cy="116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/>
                <a:gridCol w="2921000"/>
                <a:gridCol w="4064000"/>
              </a:tblGrid>
              <a:tr h="4064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Préfixe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Signification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Réalité technique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_attribut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privé par convention » — n'y touchez pas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accessible normalement ; l'IDE avertit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__attribut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« fortement privé »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renommé en _Classe__attribut (name mangling) — contournable, mais le message est clair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309372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À retenir : ce sont des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conventions de politesse outillées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pas une sécurité. L'encapsulation en Python repose sur la discipline... et sur les propriétés.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propriétés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propriété est un ensemble de méthodes qui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contrôlent l'accès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aux attributs de la classe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accesseur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(getter) — consulter la valeur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mutateur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(setter) — modifier la valeur, avec contrôle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Vu de l'extérieur, on continue d'écrire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objet.attribut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la propriété s'interpose discrètement : c'est toute l'élégance du mécanisme.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syntaxe : @property et @setter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092200"/>
            <a:ext cx="7620000" cy="3405504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Car: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name, hp):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self.name = name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self.hp = hp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passe DÉJÀ par le setter ci-dessous !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@property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hp(self):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l'accesseur : objet.hp en LECTURE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self.__hp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@hp.setter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hp(self, value):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le mutateur : objet.hp = ... en ÉCRITURE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value &lt;=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raise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ValueError(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Puissance invalide : 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{value}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self.__hp = value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c = Car(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"Clio"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90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print(c.hp)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90 — on dirait un attribut, c'est une méthode déguisée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règle d'or du setter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⚠ Le piège du setter « silencieux » :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sans else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qui refuse la valeur... ne fait rien. L'attribut n'est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jamais créé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et le programme plante plus tard, loin du vrai bug.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64604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0" i="1">
                <a:solidFill>
                  <a:srgbClr val="8C8C8C"/>
                </a:solidFill>
                <a:latin typeface="Consolas"/>
              </a:rPr>
              <a:t># ❌ Refus SILENCIEUX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@hp.setter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hp(self, value):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value &gt;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self.__hp = value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Car("Clio", -5) → __hp jamais créé...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... et AttributeError à la 1re lecture, ailleurs !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1">
                <a:solidFill>
                  <a:srgbClr val="8C8C8C"/>
                </a:solidFill>
                <a:latin typeface="Consolas"/>
              </a:rPr>
              <a:t># ✅ Un setter qui refuse LÈVE une erreur — immédiate, claire, localisée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@hp.setter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hp(self, value):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value &lt;=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raise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ValueError(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Puissance invalide : 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{value}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self.__hp =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545965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Règle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valider, c'est refuser bruyamment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raise ValueError(...)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jamais un échec muet.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Propriété calculée (lecture seule)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propriété sans setter expose une valeur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calculée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à la demande — en lecture seule :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521460"/>
            <a:ext cx="7620000" cy="25552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Car: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name, prix_ht):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self.name = name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self.prix_ht = prix_ht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@property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prix_ttc(self):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calculée à chaque lecture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round(self.prix_ht 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1.21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 = Car(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"Clio"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10000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print(c.prix_ttc)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12100.0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c.prix_ttc = 5           # ❌ AttributeError : pas de setter → lecture seule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Data model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attributs spéciaux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attributs spéciaux (entourés de doubles underscores) sont fournis par Python, en lecture seule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772920"/>
          <a:ext cx="8382000" cy="1701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000"/>
                <a:gridCol w="1778000"/>
                <a:gridCol w="5207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Nom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Accessible sur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Renvoie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__name__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classe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le nom de la classe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__bases__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classe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le tuple des classes parentes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__class__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objet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la classe qui a créé l'objet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__dict__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objet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le dictionnaire des attributs </a:t>
                      </a:r>
                      <a:r>
                        <a:rPr sz="1200" b="1" i="0">
                          <a:solidFill>
                            <a:srgbClr val="0D0D0D"/>
                          </a:solidFill>
                          <a:latin typeface="Barlow"/>
                        </a:rPr>
                        <a:t>de l'instance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__doc__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classe et objet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la docstring de la classe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362712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v.__dict__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un excellent outil de débogage : il montre exactement ce que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cet objet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stocke — et lui seul (pas les méthodes, pas les attributs de classe).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__str__ » et « __repr__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Deux méthodes spéciales définissent la représentation en chaîne d'un objet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la version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lisible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pour l'utilisateur : appelée par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print(objet)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str(...)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__repr__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la version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technique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pour le développeur : idéalement, de quoi recréer l'objet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67970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__str__(self):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Voiture 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{self.marque}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__repr__(self):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Voiture(marque=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{self.marque!r}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)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__str__ vs __repr__ en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piège classique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print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d'un objet seul utilise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__str__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... mais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print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d'une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liste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d'objets utilise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__repr__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chacun !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56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 = 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print(v)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Voiture Kia                      ← __str__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print([v, v])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[Voiture(marque='Kia'), ...]     ← __repr__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Sans ces méthodes, l'affichage par défaut est illisible :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&lt;__main__.Voiture object at 0x000001E2B3D4F910&gt;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46456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Réflexe professionnel : définir au minimum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__repr__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sur chaque classe métier — le débogage devient immédiatement plus agréable.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opérateurs de comparaison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méthodes spéciales permettent aussi de redéfinir les opérateurs de comparaison 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521460"/>
          <a:ext cx="711200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3000"/>
                <a:gridCol w="1143000"/>
                <a:gridCol w="2413000"/>
                <a:gridCol w="1143000"/>
              </a:tblGrid>
              <a:tr h="3048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Méthode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Opérateur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Méthode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Opérateur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__eq__(self, other)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==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__lt__(self, other)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&lt;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__ne__(self, other)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!=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__le__(self, other)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&lt;=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94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__gt__(self, other)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&gt;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__ge__(self, other)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&gt;=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281686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Relation implicite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__ne__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délègue à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renvoie l'inverse — définir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suffit pour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==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!=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« __eq__ » en pratique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Sans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==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compare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l'identité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(comme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 — pas le contenu ! Question d'entretien : « que vaut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==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entre deux objets sans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? »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90195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__init__(self, plaque):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self.plaque = plaque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v1 = Voiture(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"1-ABC-123"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v2 = Voiture(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"1-ABC-123"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print(v1 == v2)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False ?! — identité, pas contenu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Voiture2: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__init__(self, plaque):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self.plaque = plaque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__eq__(self, other):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on définit l'égalité métier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self.plaque == other.plaque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print(Voiture2(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"1-ABC-123"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 == Voiture2(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"1-ABC-123"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))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True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__eq__ et __hash__ — objets dans un set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 vivre dans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ou servir de clé de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dict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un objet avec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doit aussi définir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__hash__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cohérent avec son égalité :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77292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plaque):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self.plaque = plaque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__eq__(self, other):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self.plaque == other.plaque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__hash__(self):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hash(self.plaque)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même plaque → même hash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parc = {Voiture(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"1-ABC-123"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), Voiture(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"1-ABC-123"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)}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print(len(parc))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1 — le doublon est éliminé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Les conteneurs : __len__, __getitem__, __contains__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dunders de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conteneur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votre objet répond à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len(...)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aux crochets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[...]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à l'opérateur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comme une vraie liste.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83591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Garage: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*voitures):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self.voitures = list(voitures)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__len__(self):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len(g)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len(self.voitures)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__getitem__(self, i):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g[i]  — et l'itération offerte !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self.voitures[i]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__contains__(self, v):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"..." in g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self.voitures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g = Garage(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"Clio"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"Tesla"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print(len(g), g[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],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g)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3 Clio True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g:     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le for fonctionne via __getitem__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print(v, end=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 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Clio Kia Tesla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Surcharge d'opérateurs : __add__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opérateurs arithmétiques aussi se redéfinissent —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+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appelle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__add__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52146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Duree: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h, m):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self.h, self.m = h, m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__add__(self, other):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self + other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total = (self.h + other.h) 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+ self.m + other.m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Duree(total //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total %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60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__repr__(self):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{self.h}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h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{self.m: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02d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}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print(Duree(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+ Duree(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35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4h15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80746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Même famille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__sub__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(-),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__mul__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(*),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__truediv__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(/) —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__radd__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quand votre objet est à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droite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 l'addition.</a:t>
            </a:r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Attributs dynamiques : getattr et setattr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Lire ou écrire un attribut dont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nom n'est connu qu'à l'exécution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(une chaîne de caractères) — le quotidien d'un ORM comme celui d'Odoo :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772920"/>
            <a:ext cx="7620000" cy="283591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 =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print(hasattr(v,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"marque"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))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 — l'attribut existe ?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print(getattr(v,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"marque"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))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Kia  — lecture par NOM (une chaîne !)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print(getattr(v,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"prix"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))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0    — valeur par défaut si absent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setattr(v,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"annee"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2024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écriture par nom : v.annee = 2024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print(v.annee)  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2024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champ =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"marque"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le nom peut venir d'une variable,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print(getattr(v, champ))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d'un fichier, d'une base de données...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@dataclass — l'usine à classes de données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 une classe qui transporte surtout des données, le décorateur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@dataclass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génère automatiquement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__init__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__repr__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__eq__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772920"/>
            <a:ext cx="7620000" cy="226631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from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dataclasses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dataclass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@dataclass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marque: str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annee: int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prix: float 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0.0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valeur par défaut possible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 =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2024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15900.0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print(v)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Voiture(marque='Kia', annee=2024, prix=15900.0)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 ==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2024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15900.0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))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 — __eq__ offert !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__slots__ — des objets au régime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Par défaut, chaque objet transporte son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__dict__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souple, mais coûteux en mémoire.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__slots__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fige la liste des attributs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plus de dictionnaire, des objets plus légers et des accès plus rapides.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02438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Point: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__slots__ = 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"x"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"y"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la liste FERMÉE des attributs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x, y):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self.x, self.y = x, y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 = Point(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4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print(p.x, p.y) 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3 4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p.z = 5                  # ❌ AttributeError : pas dans __slots__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print(p.__dict__)        # ❌ AttributeError : plus de __dict__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31038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À réserver aux classes instanciées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 masse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(des millions de points, de lignes...) — et toujours mesurer avant d'optimiser.</a:t>
            </a:r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__call__ et __new__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21600" y="203200"/>
            <a:ext cx="1041400" cy="266700"/>
          </a:xfrm>
          <a:prstGeom prst="roundRect">
            <a:avLst>
              <a:gd name="adj" fmla="val 50000"/>
            </a:avLst>
          </a:prstGeom>
          <a:solidFill>
            <a:srgbClr val="3B2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Barlow"/>
              </a:rPr>
              <a:t>🎓 BONUS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Deux dunders de « culture d'entretien »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__call__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rend l'objet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appelable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comme une fonction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84912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Compteur: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self.n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__call__(self):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l'objet devient APPELABLE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self.n +=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self.n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c = Compteur()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print(c(), c(), c())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1 2 3 — c() comme une fonction 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9370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__new__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crée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l'objet en mémoire, puis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__init__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l'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initialise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« Que se passe-t-il avant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__init__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? » est un classique d'entretien — on ne redéfinit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__new__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que pour des cas pointus (singleton, types immuables).</a:t>
            </a:r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Héritage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Concept de l'héritage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classe peut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hériter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d'une autre : créer une nouvelle classe à partir d'une base existante.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classe qui hérite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sous-classe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classe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enfant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classe fille ou dérivée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classe dont on hérite :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super-classe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ou classe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mère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L'enfant récupère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tous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les attributs et méthodes de la mère — puis ajoute ou spécialise. La relation se lit «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est un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» : une voiture électrique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est une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voiture.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L'héritage en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L'héritage se déclare sur la classe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enfant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entre parenthèses. La fonction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issubclass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teste la hiérarchie entre les types.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VoitureElectrique(Voiture):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hérite de Voiture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pass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ve = VoitureElectrique(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"Tesla"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print(ve.marque)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Tesla — hérité sans rien écrire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print(issubclass(VoitureElectrique, Voiture))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True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La fonction « super()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super()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donne accès aux méthodes de la classe mère depuis l'enfant — notamment pour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compléter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__init__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au lieu de le réécrire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VoitureElectrique(Voiture):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marque, autonomie):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super().__init__(marque)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la mère initialise SA partie...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self.autonomie = autonomie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... l'enfant ajoute la sienne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ve = VoitureElectrique(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"Tesla"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500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print(ve.marque, ve.autonomie)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Tesla 500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Redéfinition de méthodes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L'enfant peut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redéfinir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une méthode de la mère pour spécialiser le comportement — et la version de l'objet le plus spécifique gagne.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demarrer(self):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"Vroum"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VoitureElectrique(Voiture):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demarrer(self): 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redéfinition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"... (silence électrique)"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print(Voiture().demarrer())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Vroum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print(VoitureElectrique().demarrer())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... (silence électrique)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05892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enrichir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plutôt que remplacer : rappeler la version de la mère avec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super().demarrer()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dans la redéfinition.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polymorphisme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polymorphisme : un objet peut avoir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plusieurs types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une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VoitureElectrique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aussi une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Voiture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La fonction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isinstance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teste les types d'un objet, héritage compris.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50685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ve = VoitureElectrique(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"Tesla"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500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print(isinstance(ve, VoitureElectrique))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print(isinstance(ve, Voiture))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True — aussi ! c'est le polymorphisme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1">
                <a:solidFill>
                  <a:srgbClr val="8C8C8C"/>
                </a:solidFill>
                <a:latin typeface="Consolas"/>
              </a:rPr>
              <a:t># Conséquence : un code écrit pour des Voiture accepte</a:t>
            </a:r>
          </a:p>
          <a:p>
            <a:pPr algn="l">
              <a:lnSpc>
                <a:spcPts val="1495"/>
              </a:lnSpc>
            </a:pPr>
            <a:r>
              <a:rPr sz="1150" b="0" i="1">
                <a:solidFill>
                  <a:srgbClr val="8C8C8C"/>
                </a:solidFill>
                <a:latin typeface="Consolas"/>
              </a:rPr>
              <a:t># toutes leurs sous-classes, sans modification.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L'héritage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Python permet d'hériter de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plusieurs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classes (ce que C# et Java interdisent). Puissant — et source de questions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si deux mères définissent la même méthode, laquelle est utilisée ?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comment cibler la méthode d'un parent précis ?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réponse de Python :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MRO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(*Method Resolution Order*) — un ordre de résolution déterministe, consultable via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__mro__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MRO : l'ordre des parents compte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092200"/>
            <a:ext cx="7620000" cy="295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Car: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description(self):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"je roule"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Plane: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description(self):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"je vole"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FlyingCar(Car, Plane):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Car d'abord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pass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print(FlyingCar().description())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je roule — le PREMIER parent gagne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print([c.__name__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FlyingCar.__mro__])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['FlyingCar', 'Car', 'Plane', 'object']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417068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super()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suit cet ordre. Pour cibler un parent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précis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on appelle par son nom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Plane.description(self)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en passant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soi-même. Question d'entretien récurrente.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Héritage multiple : étude de cas vécue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cas réel d'une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FlyingCar(Car, Plane)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chaque parent initialise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sa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partie, par appel explicite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17551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FlyingCar(Car, Plane):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__init__(self, name, year, id, nb_motor):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Car.__init__(self, name, year)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appel par NOM → self explicite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Plane.__init__(self, id, year, nb_motor)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... sans oublier year !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Les deux bugs classiques (vécus !) :</a:t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1) Plane.__init__(self, id, nb_motor)  → year oublié : les positionnels</a:t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   GLISSENT d'un cran et l'erreur accuse... le DERNIER paramètre :</a:t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   TypeError: missing 1 required positional argument: 'nb_motor'</a:t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2) print(Car.roule())  → sans self :</a:t>
            </a:r>
          </a:p>
          <a:p>
            <a:pPr algn="l">
              <a:lnSpc>
                <a:spcPts val="1430"/>
              </a:lnSpc>
            </a:pPr>
            <a:r>
              <a:rPr sz="1100" b="0" i="1">
                <a:solidFill>
                  <a:srgbClr val="8C8C8C"/>
                </a:solidFill>
                <a:latin typeface="Consolas"/>
              </a:rPr>
              <a:t>#    TypeError: roule() missing 1 required positional argument: 'self'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075429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Parade : appeler avec des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arguments nommés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year=year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 — un décalage silencieux devient impossible.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mixin — l'héritage multiple bien employé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mixin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une petite classe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sans état propre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qui n'existe que pour apporter une capacité réutilisable. C'est l'usage sain de l'héritage multiple — Odoo en est truffé.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53873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ComparableParPrix: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ni __init__ ni attribut 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moins_cher_que(self, other):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il APPORTE une capacité, c'est tout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self.prix &lt; other.prix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Voiture(ComparableParPrix):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__init__(self, marque, prix):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self.marque, self.prix = marque, prix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Maison(ComparableParPrix):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la MÊME capacité, greffée ailleurs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__init__(self, ville, prix):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self.ville, self.prix = ville, prix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print(Voiture(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00" b="0" i="0">
                <a:solidFill>
                  <a:srgbClr val="1616C8"/>
                </a:solidFill>
                <a:latin typeface="Consolas"/>
              </a:rPr>
              <a:t>15900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).moins_cher_que(Maison(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"Mons"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00" b="0" i="0">
                <a:solidFill>
                  <a:srgbClr val="1616C8"/>
                </a:solidFill>
                <a:latin typeface="Consolas"/>
              </a:rPr>
              <a:t>250000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)))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43865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Convention : le suffixe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Mixin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placé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avant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la classe de base (cf. MRO).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Composition VS héritage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L'héritage n'est pas le seul outil de réutilisation — souvent, la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composition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est le meilleur choix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héritage — «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est un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» : une voiture électrique est une voiture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composition — «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 un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» : une voiture a un moteur (elle n'est pas un moteur !)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428240"/>
            <a:ext cx="762000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Moteur: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chevaux):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self.chevaux = chevaux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Voiture:      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Voiture N'hérite PAS de Moteur...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marque, chevaux):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self.moteur = Moteur(chevaux)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... elle EN CONTIENT un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136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).moteur.chevaux)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63169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Question d'entretien : « héritage ou composition ? » — répondre par le test « est un / a un ».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L'héritage au quotidien : vos exceptions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premier héritage que vous écrirez en entreprise : 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exception métier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qui hérite d'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Exception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un nom parlant,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except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sur mesure.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4561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SoldeInsuffisantError(Exception):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"""Levée quand un retrait dépasse le solde disponible."""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retirer(solde, montant):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montant &gt; solde: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raise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SoldeInsuffisantError(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f"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Retrait 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{montant}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 refusé : solde 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{solde}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solde - montant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try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retirer(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50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except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SoldeInsuffisantError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as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e: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un except au nom métier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print(e)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classes abstraites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Parfois, la classe mère ne peut pas fournir une implémentation complète : elle veut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imposer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une méthode à ses enfants sans l'écrire elle-même.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méthode abstraite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= la signature dans la mère, l'implémentation déléguée aux enfants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classe qui possède une méthode abstraite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ne peut pas être instanciée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Python, c'est le module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abc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(*Abstract Base Class*) qui fournit l'infrastructure.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module « abc »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092200"/>
            <a:ext cx="7620000" cy="29514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from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abc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ABC, abstractmethod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Forme(ABC):   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hérite d'ABC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@abstractmethod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aire(self): ...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signature seule : à implémenter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Carre(Forme):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__init__(self, cote):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self.cote = cote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aire(self): 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l'enfant honore le contrat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self.cote **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print(Carre(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).aire())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9</a:t>
            </a:r>
          </a:p>
          <a:p>
            <a:pPr algn="l">
              <a:lnSpc>
                <a:spcPts val="1560"/>
              </a:lnSpc>
            </a:pPr>
            <a:r>
              <a:rPr sz="1200" b="0" i="1">
                <a:solidFill>
                  <a:srgbClr val="8C8C8C"/>
                </a:solidFill>
                <a:latin typeface="Consolas"/>
              </a:rPr>
              <a:t># Forme()                  # ❌ TypeError : classe abstraite non instanciable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417068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enfant qui « oublie » d'implémenter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aire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devient abstrait à son tour — et refuse lui aussi de s'instancier : le contrat est vérifié à la création.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membres statiques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membres statiques appartiennent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au type lui-même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plutôt qu'à une instance — on y accède par le nom de la classe.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⚠ Particularité Python : contrairement à C# et Java, un membre statique est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aussi accessible depuis une instance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... et une affectation via l'instance 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masque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(cf. le piège du masquage, section classes).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Usage type : un compteur, une constante de classe, un utilitaire lié au type.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Attribut statique : le compteur d'instances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092200"/>
            <a:ext cx="7620000" cy="188658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nb_creees 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0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      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le compteur vit sur la CLASSE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marque):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Voiture.nb_creees +=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via la CLASSE — pas self.nb_creees !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"Renault"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);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); Voiture(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"Tesla"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print(Voiture.nb_creees)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3105785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Pourquoi pas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self.nb_creees += 1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? Parce que cela créerait un attribut d'instance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masquant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le compteur partagé — chaque voiture compterait... jusqu'à 1.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Méthode statique : @staticmethod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méthode statique n'utilise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aucune donnée d'instance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: pas de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Elle vit dans la classe parce qu'elle s'y rattache logiquement.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3665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Conversion: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@staticmethod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km_en_miles(km):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pas de self !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round(km *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0.621371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print(Conversion.km_en_miles(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100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62.1 — appel via la classe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@classmethod et « cls 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Entre les deux : la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méthode de classe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reçoit la classe elle-même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cls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). Son grand usage : les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constructeurs alternatifs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266315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95"/>
              </a:lnSpc>
            </a:pPr>
            <a:r>
              <a:rPr sz="115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__init__(self, marque, annee):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self.annee = annee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@classmethod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depuis_dict(cls, d):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cls = la classe (Voiture)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5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 cls(d[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"marque"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], d[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"annee"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])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v = Voiture.depuis_dict({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"marque"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50" b="1" i="0">
                <a:solidFill>
                  <a:srgbClr val="00838A"/>
                </a:solidFill>
                <a:latin typeface="Consolas"/>
              </a:rPr>
              <a:t>"annee"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: </a:t>
            </a:r>
            <a:r>
              <a:rPr sz="1150" b="0" i="0">
                <a:solidFill>
                  <a:srgbClr val="1616C8"/>
                </a:solidFill>
                <a:latin typeface="Consolas"/>
              </a:rPr>
              <a:t>2024</a:t>
            </a:r>
            <a:r>
              <a:rPr sz="1150" b="0" i="0">
                <a:solidFill>
                  <a:srgbClr val="0D0D0D"/>
                </a:solidFill>
                <a:latin typeface="Consolas"/>
              </a:rPr>
              <a:t>})</a:t>
            </a:r>
          </a:p>
          <a:p>
            <a:pPr algn="l">
              <a:lnSpc>
                <a:spcPts val="1495"/>
              </a:lnSpc>
            </a:pPr>
            <a:r>
              <a:rPr sz="1150" b="0" i="0">
                <a:solidFill>
                  <a:srgbClr val="0D0D0D"/>
                </a:solidFill>
                <a:latin typeface="Consolas"/>
              </a:rPr>
              <a:t>print(v.marque, v.annee)                   </a:t>
            </a:r>
            <a:r>
              <a:rPr sz="1150" b="0" i="1">
                <a:solidFill>
                  <a:srgbClr val="8C8C8C"/>
                </a:solidFill>
                <a:latin typeface="Consolas"/>
              </a:rPr>
              <a:t># Kia 2024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De l'objet au JSON (et retour)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pont entre vos classes et vos fichiers :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__dict__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transforme l'objet en dictionnaire (→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json.dumps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), et un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@classmethod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refait l'objet depuis le dictionnaire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cls(**d)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90195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json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Voiture: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__init__(self, marque, annee):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self.marque = marque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self.annee = annee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@classmethod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depuis_dict(cls, d):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cls(**d)     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dict → objet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v = Voiture(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"Kia"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, </a:t>
            </a:r>
            <a:r>
              <a:rPr sz="1100" b="0" i="0">
                <a:solidFill>
                  <a:srgbClr val="1616C8"/>
                </a:solidFill>
                <a:latin typeface="Consolas"/>
              </a:rPr>
              <a:t>2024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texte = json.dumps(v.__dict__)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objet → dict → JSON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print(texte)                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{"marque": "Kia", "annee": 2024}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v2 = Voiture.depuis_dict(json.loads(texte))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JSON → dict → objet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print(v2.marque, v2.annee)  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Kia 2024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self, cls... ou rien ? Le récapitulatif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81000" y="1168400"/>
          <a:ext cx="8382000" cy="134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2286000"/>
                <a:gridCol w="4191000"/>
              </a:tblGrid>
              <a:tr h="3556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Décorateur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1er paramètre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Barlow"/>
                        </a:rPr>
                        <a:t>Accède à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000000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(aucun)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self — l'instance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les attributs de l'objet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@classmethod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cls — la classe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les attributs de classe, les constructeurs alternatifs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0D0D0D"/>
                          </a:solidFill>
                          <a:latin typeface="Consolas"/>
                        </a:rPr>
                        <a:t>@staticmethod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aucun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D0D0D"/>
                          </a:solidFill>
                          <a:latin typeface="Barlow"/>
                        </a:rPr>
                        <a:t>rien : une fonction rangée dans la classe</a:t>
                      </a:r>
                    </a:p>
                  </a:txBody>
                  <a:tcPr anchor="ctr" marL="88900" marR="63500" marT="25400" marB="25400">
                    <a:lnL w="9525">
                      <a:solidFill>
                        <a:srgbClr val="999999"/>
                      </a:solidFill>
                    </a:lnL>
                    <a:lnR w="9525">
                      <a:solidFill>
                        <a:srgbClr val="999999"/>
                      </a:solidFill>
                    </a:lnR>
                    <a:lnT w="9525">
                      <a:solidFill>
                        <a:srgbClr val="999999"/>
                      </a:solidFill>
                    </a:lnT>
                    <a:lnB w="9525">
                      <a:solidFill>
                        <a:srgbClr val="99999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1000" y="2743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bon réflexe pour choisir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la méthode utilise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self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→ méthode d'instance (le cas normal)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elle crée ou décrit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la classe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→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@classmethod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elle n'utilise ni l'un ni l'autre →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@staticmethod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énumérations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Définir une énumération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énumération fige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ensemble fermé de valeurs nommées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 Fini les chaînes magiques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"valide"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éparpillées dans le code — et leurs fautes de frappe silencieuses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235712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from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enum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Enum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Statut(Enum):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EN_ATTENTE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1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VALIDEE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ANNULEE = 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print(Statut.VALIDEE)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Statut.VALIDEE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print(Statut.VALIDEE.name)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VALIDEE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print(Statut.VALIDEE.value)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2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print(Statut(</a:t>
            </a:r>
            <a:r>
              <a:rPr sz="1200" b="0" i="0">
                <a:solidFill>
                  <a:srgbClr val="1616C8"/>
                </a:solidFill>
                <a:latin typeface="Consolas"/>
              </a:rPr>
              <a:t>3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))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Statut.ANNULEE — retrouvé par la valeur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25704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 membre inexistant lève immédiatement une erreur : rien ne passe inaperçu.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Utiliser une énumération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Comparaison par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identité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), itération,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auto()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pour la numérotation :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521460"/>
            <a:ext cx="7620000" cy="272034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from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enum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Enum, auto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Direction(Enum):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NORD = auto()   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auto() numérote tout seul (1, 2...)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SUD = auto()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EST = auto()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OUEST = auto()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d = Direction.NORD</a:t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if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d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is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Direction.NORD: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comparaison par IDENTITÉ : is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print(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"cap au nord"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430"/>
              </a:lnSpc>
            </a:pPr>
            <a:r>
              <a:rPr sz="11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d </a:t>
            </a:r>
            <a:r>
              <a:rPr sz="11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 Direction:       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une énumération s'itère</a:t>
            </a:r>
          </a:p>
          <a:p>
            <a:pPr algn="l">
              <a:lnSpc>
                <a:spcPts val="1430"/>
              </a:lnSpc>
            </a:pPr>
            <a:r>
              <a:rPr sz="1100" b="0" i="0">
                <a:solidFill>
                  <a:srgbClr val="0D0D0D"/>
                </a:solidFill>
                <a:latin typeface="Consolas"/>
              </a:rPr>
              <a:t>    print(d.name, end=</a:t>
            </a:r>
            <a:r>
              <a:rPr sz="1100" b="1" i="0">
                <a:solidFill>
                  <a:srgbClr val="00838A"/>
                </a:solidFill>
                <a:latin typeface="Consolas"/>
              </a:rPr>
              <a:t>" "</a:t>
            </a:r>
            <a:r>
              <a:rPr sz="1100" b="0" i="0">
                <a:solidFill>
                  <a:srgbClr val="0D0D0D"/>
                </a:solidFill>
                <a:latin typeface="Consolas"/>
              </a:rPr>
              <a:t>)             </a:t>
            </a:r>
            <a:r>
              <a:rPr sz="1100" b="0" i="1">
                <a:solidFill>
                  <a:srgbClr val="8C8C8C"/>
                </a:solidFill>
                <a:latin typeface="Consolas"/>
              </a:rPr>
              <a:t># NORD SUD EST OUEST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43688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Parfaits pour des états métier — et utilisables en clé de dictionnaire.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Les interfaces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L'objectif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Une interface décrit un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ensemble de fonctionnalités liées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que n'importe quelle classe peut promettre : un « contrat » à respecter.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Python ne supporte pas nativement les interfaces. Trois approches la remplacent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duck typing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la philosophie historique de Python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les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classes abstraites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(ABC) — le contrat vérifié à l'instanciation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typing.Protocol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le contrat vérifié par l'éditeur (moderne)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Le Duck 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nom vient du test du canard : « si je vois un oiseau qui vole comme un canard et cancane comme un canard, alors j'appelle cet oiseau un canard ».</a:t>
            </a:r>
          </a:p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Concrètement : si un objet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définit les bonnes méthodes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il fait l'affaire — peu importe sa classe.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2352040"/>
            <a:ext cx="7620000" cy="215900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Canard: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crier(self):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"Coin coin"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Robot:         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aucun lien d'héritage avec Canard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crier(self):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return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</a:t>
            </a:r>
            <a:r>
              <a:rPr sz="1200" b="1" i="0">
                <a:solidFill>
                  <a:srgbClr val="00838A"/>
                </a:solidFill>
                <a:latin typeface="Consolas"/>
              </a:rPr>
              <a:t>"Bip bip"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for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truc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in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[Canard(), Robot()]: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print(truc.crier())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il sait crier : ça suffit !</a:t>
            </a:r>
          </a:p>
        </p:txBody>
      </p:sp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Simuler une interface avec ABC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L'approche « contrat strict » : une classe abstraite qui ne contient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que des signatures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héritée par les classes concrètes.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créer l'« interface » : une classe ABC aux méthodes toutes abstraites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en hériter et implémenter les méthodes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00" b="0" i="0">
                <a:solidFill>
                  <a:srgbClr val="0D0D0D"/>
                </a:solidFill>
                <a:latin typeface="Barlow"/>
              </a:rPr>
              <a:t>vérifier le contrat avec </a:t>
            </a:r>
            <a:r>
              <a:rPr sz="1350" b="0" i="0">
                <a:solidFill>
                  <a:srgbClr val="0D0D0D"/>
                </a:solidFill>
                <a:latin typeface="Consolas"/>
              </a:rPr>
              <a:t>isinstance(objet, MonInterface)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— grâce au polymorphisme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typing.Protocol — le contrat moderne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350" b="0" i="0">
                <a:solidFill>
                  <a:srgbClr val="0D0D0D"/>
                </a:solidFill>
                <a:latin typeface="Consolas"/>
              </a:rPr>
              <a:t>Protocol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 formalise le duck typing : on décrit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la forme attendue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, et l'éditeur (VS Code, mypy) vérifie la conformité — </a:t>
            </a:r>
            <a:r>
              <a:rPr sz="1500" b="1" i="0">
                <a:solidFill>
                  <a:srgbClr val="0D0D0D"/>
                </a:solidFill>
                <a:latin typeface="Barlow"/>
              </a:rPr>
              <a:t>sans aucun héritage</a:t>
            </a:r>
            <a:r>
              <a:rPr sz="1500" b="0" i="0">
                <a:solidFill>
                  <a:srgbClr val="0D0D0D"/>
                </a:solidFill>
                <a:latin typeface="Barlow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1772920"/>
            <a:ext cx="7620000" cy="1960880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14300" rIns="114300" tIns="76200" bIns="76200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from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typing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import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Protocol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class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PeutCrier(Protocol):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le contrat : juste des signatures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</a:t>
            </a: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crier(self) -&gt; str: ...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1" i="0">
                <a:solidFill>
                  <a:srgbClr val="0000BF"/>
                </a:solidFill>
                <a:latin typeface="Consolas"/>
              </a:rPr>
              <a:t>def</a:t>
            </a:r>
            <a:r>
              <a:rPr sz="1200" b="0" i="0">
                <a:solidFill>
                  <a:srgbClr val="0D0D0D"/>
                </a:solidFill>
                <a:latin typeface="Consolas"/>
              </a:rPr>
              <a:t> faire_crier(truc: PeutCrier):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« j'accepte tout ce qui a cette forme »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    print(truc.crier())</a:t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/>
            </a:r>
          </a:p>
          <a:p>
            <a:pPr algn="l">
              <a:lnSpc>
                <a:spcPts val="1560"/>
              </a:lnSpc>
            </a:pPr>
            <a:r>
              <a:rPr sz="1200" b="0" i="0">
                <a:solidFill>
                  <a:srgbClr val="0D0D0D"/>
                </a:solidFill>
                <a:latin typeface="Consolas"/>
              </a:rPr>
              <a:t>faire_crier(Canard())              </a:t>
            </a:r>
            <a:r>
              <a:rPr sz="1200" b="0" i="1">
                <a:solidFill>
                  <a:srgbClr val="8C8C8C"/>
                </a:solidFill>
                <a:latin typeface="Consolas"/>
              </a:rPr>
              <a:t># accepté SANS héritage : bonne forme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38608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00" b="0" i="0">
                <a:solidFill>
                  <a:srgbClr val="0D0D0D"/>
                </a:solidFill>
                <a:latin typeface="Barlow"/>
              </a:rPr>
              <a:t>Le meilleur des deux mondes : la souplesse du duck typing, la vérification d'un contrat. C'est l'approche des bibliothèques Python modernes.</a:t>
            </a:r>
          </a:p>
        </p:txBody>
      </p:sp>
      <p:pic>
        <p:nvPicPr>
          <p:cNvPr id="6" name="Picture 5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431800"/>
            <a:ext cx="8382000" cy="558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2600" b="0" i="0">
                <a:solidFill>
                  <a:srgbClr val="23AC67"/>
                </a:solidFill>
                <a:latin typeface="Zen Maru Gothic"/>
              </a:rPr>
              <a:t>Pour aller plus loin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092200"/>
            <a:ext cx="8382000" cy="3810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  <a:buNone/>
            </a:pPr>
            <a:r>
              <a:rPr sz="1550" b="0" i="0">
                <a:solidFill>
                  <a:srgbClr val="0D0D0D"/>
                </a:solidFill>
                <a:latin typeface="Barlow"/>
              </a:rPr>
              <a:t>Ce module couvre l'essentiel de l'objet en Python. Les suites naturelles :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@dataclass en profondeur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champs, immutabilité (</a:t>
            </a:r>
            <a:r>
              <a:rPr sz="1400" b="0" i="0">
                <a:solidFill>
                  <a:srgbClr val="0D0D0D"/>
                </a:solidFill>
                <a:latin typeface="Consolas"/>
              </a:rPr>
              <a:t>frozen=True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), tri automatique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Les décorateurs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comprendre enfin ce que font </a:t>
            </a:r>
            <a:r>
              <a:rPr sz="1400" b="0" i="0">
                <a:solidFill>
                  <a:srgbClr val="0D0D0D"/>
                </a:solidFill>
                <a:latin typeface="Consolas"/>
              </a:rPr>
              <a:t>@property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et ses cousins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Les tests avec pytest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tester ses classes méthode par méthode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Les design patterns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Factory, Strategy, Observer : l'objet au niveau architecture</a:t>
            </a:r>
          </a:p>
          <a:p>
            <a:pPr marL="228600" indent="-228600">
              <a:lnSpc>
                <a:spcPct val="112000"/>
              </a:lnSpc>
              <a:spcAft>
                <a:spcPts val="600"/>
              </a:spcAft>
              <a:buSzPct val="70000"/>
              <a:buFont typeface="Arial"/>
              <a:buChar char="●"/>
            </a:pPr>
            <a:r>
              <a:rPr sz="1550" b="1" i="0">
                <a:solidFill>
                  <a:srgbClr val="0D0D0D"/>
                </a:solidFill>
                <a:latin typeface="Barlow"/>
              </a:rPr>
              <a:t>Les ORM</a:t>
            </a:r>
            <a:r>
              <a:rPr sz="1550" b="0" i="0">
                <a:solidFill>
                  <a:srgbClr val="0D0D0D"/>
                </a:solidFill>
                <a:latin typeface="Barlow"/>
              </a:rPr>
              <a:t> — SQLAlchemy, modèles Odoo : quand vos classes deviennent des tables</a:t>
            </a:r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60600"/>
            <a:ext cx="9144000" cy="635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2800" b="0" i="0">
                <a:solidFill>
                  <a:srgbClr val="3B2C87"/>
                </a:solidFill>
                <a:latin typeface="Zen Maru Gothic"/>
              </a:rPr>
              <a:t>Merci pour votre attention.</a:t>
            </a:r>
          </a:p>
        </p:txBody>
      </p:sp>
      <p:pic>
        <p:nvPicPr>
          <p:cNvPr id="3" name="Picture 2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4851400"/>
            <a:ext cx="647700" cy="215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85200" y="4864100"/>
            <a:ext cx="4318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000" b="1" i="0">
                <a:solidFill>
                  <a:srgbClr val="23AC67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